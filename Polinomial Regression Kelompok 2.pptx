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Garet Bold" charset="1" panose="00000000000000000000"/>
      <p:regular r:id="rId20"/>
    </p:embeddedFont>
    <p:embeddedFont>
      <p:font typeface="Archivo Black" charset="1" panose="020B0A03020202020B04"/>
      <p:regular r:id="rId21"/>
    </p:embeddedFont>
    <p:embeddedFont>
      <p:font typeface="Garet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NAME OF PROJECT: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96625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Data Science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66802" y="4205494"/>
            <a:ext cx="10773446" cy="2304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POLYNOMIAL REGRESSION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01/13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2027" y="7463576"/>
            <a:ext cx="5832835" cy="4114800"/>
          </a:xfrm>
          <a:custGeom>
            <a:avLst/>
            <a:gdLst/>
            <a:ahLst/>
            <a:cxnLst/>
            <a:rect r="r" b="b" t="t" l="l"/>
            <a:pathLst>
              <a:path h="4114800" w="5832835">
                <a:moveTo>
                  <a:pt x="0" y="0"/>
                </a:moveTo>
                <a:lnTo>
                  <a:pt x="5832835" y="0"/>
                </a:lnTo>
                <a:lnTo>
                  <a:pt x="58328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16193" y="5458613"/>
            <a:ext cx="3786817" cy="84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FAUZAN FATHIN ZAKY</a:t>
            </a:r>
          </a:p>
          <a:p>
            <a:pPr algn="l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( 234311014 )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7087" y="5458613"/>
            <a:ext cx="567458" cy="413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97"/>
              </a:lnSpc>
            </a:pPr>
            <a:r>
              <a:rPr lang="en-US" b="true" sz="242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64066" y="5458613"/>
            <a:ext cx="3786817" cy="84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ABYAN RAGA KUSUMA</a:t>
            </a:r>
          </a:p>
          <a:p>
            <a:pPr algn="l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( 234311001 )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7504" y="5458613"/>
            <a:ext cx="567458" cy="413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97"/>
              </a:lnSpc>
            </a:pPr>
            <a:r>
              <a:rPr lang="en-US" b="true" sz="242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23033" y="4033928"/>
            <a:ext cx="904193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ANGGOTA KELOMPOK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02/13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12027" y="5507090"/>
            <a:ext cx="567458" cy="413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97"/>
              </a:lnSpc>
            </a:pPr>
            <a:r>
              <a:rPr lang="en-US" b="true" sz="242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33679" y="5507090"/>
            <a:ext cx="3786817" cy="84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IQBAL KHAFIDZ ABRORI</a:t>
            </a:r>
          </a:p>
          <a:p>
            <a:pPr algn="l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( 234311015 )</a:t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0">
            <a:off x="-3216193" y="-504202"/>
            <a:ext cx="5832835" cy="4114800"/>
          </a:xfrm>
          <a:custGeom>
            <a:avLst/>
            <a:gdLst/>
            <a:ahLst/>
            <a:cxnLst/>
            <a:rect r="r" b="b" t="t" l="l"/>
            <a:pathLst>
              <a:path h="4114800" w="5832835">
                <a:moveTo>
                  <a:pt x="5832835" y="0"/>
                </a:moveTo>
                <a:lnTo>
                  <a:pt x="0" y="0"/>
                </a:lnTo>
                <a:lnTo>
                  <a:pt x="0" y="4114800"/>
                </a:lnTo>
                <a:lnTo>
                  <a:pt x="5832835" y="4114800"/>
                </a:lnTo>
                <a:lnTo>
                  <a:pt x="583283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3033" y="2064556"/>
            <a:ext cx="904193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REGRESI POLINOMIAL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03/13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11635" y="3188208"/>
            <a:ext cx="14664730" cy="5129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Regresi polinomial adalah salah satu teknik dalam machine learning dan statistik untuk memodelkan hubungan antara variabel input (x) dan variabel output (y) yang tidak linear.</a:t>
            </a:r>
          </a:p>
          <a:p>
            <a:pPr algn="just">
              <a:lnSpc>
                <a:spcPts val="3397"/>
              </a:lnSpc>
            </a:pP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pola datanya tidak harus berupa garis lurus. Hubungan y terhadap x bisa melengkung, naik turun, atau berbentuk kurva, regresi polinomial tetap dihitung menggunakan model linear terhadap parameters-nya—karena tetap menggunakan bentuk linear dalam koefisien.</a:t>
            </a:r>
          </a:p>
          <a:p>
            <a:pPr algn="just">
              <a:lnSpc>
                <a:spcPts val="3397"/>
              </a:lnSpc>
            </a:pP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Karena modelnya menggunakan pangkat-pangkat x (x², x³, dst).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Dengan menambah pangkat x, kurva yang dihasilkan bisa membentuk berbagai macam lengkungan.</a:t>
            </a:r>
          </a:p>
          <a:p>
            <a:pPr algn="just">
              <a:lnSpc>
                <a:spcPts val="3397"/>
              </a:lnSpc>
            </a:pPr>
          </a:p>
          <a:p>
            <a:pPr algn="just">
              <a:lnSpc>
                <a:spcPts val="3397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11635" y="5588817"/>
            <a:ext cx="4661486" cy="668199"/>
          </a:xfrm>
          <a:custGeom>
            <a:avLst/>
            <a:gdLst/>
            <a:ahLst/>
            <a:cxnLst/>
            <a:rect r="r" b="b" t="t" l="l"/>
            <a:pathLst>
              <a:path h="668199" w="4661486">
                <a:moveTo>
                  <a:pt x="0" y="0"/>
                </a:moveTo>
                <a:lnTo>
                  <a:pt x="4661486" y="0"/>
                </a:lnTo>
                <a:lnTo>
                  <a:pt x="4661486" y="668199"/>
                </a:lnTo>
                <a:lnTo>
                  <a:pt x="0" y="668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11635" y="8220746"/>
            <a:ext cx="6201537" cy="734864"/>
          </a:xfrm>
          <a:custGeom>
            <a:avLst/>
            <a:gdLst/>
            <a:ahLst/>
            <a:cxnLst/>
            <a:rect r="r" b="b" t="t" l="l"/>
            <a:pathLst>
              <a:path h="734864" w="6201537">
                <a:moveTo>
                  <a:pt x="0" y="0"/>
                </a:moveTo>
                <a:lnTo>
                  <a:pt x="6201537" y="0"/>
                </a:lnTo>
                <a:lnTo>
                  <a:pt x="6201537" y="734864"/>
                </a:lnTo>
                <a:lnTo>
                  <a:pt x="0" y="734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50442" y="8890868"/>
            <a:ext cx="7746693" cy="734864"/>
          </a:xfrm>
          <a:custGeom>
            <a:avLst/>
            <a:gdLst/>
            <a:ahLst/>
            <a:cxnLst/>
            <a:rect r="r" b="b" t="t" l="l"/>
            <a:pathLst>
              <a:path h="734864" w="7746693">
                <a:moveTo>
                  <a:pt x="0" y="0"/>
                </a:moveTo>
                <a:lnTo>
                  <a:pt x="7746694" y="0"/>
                </a:lnTo>
                <a:lnTo>
                  <a:pt x="7746694" y="734864"/>
                </a:lnTo>
                <a:lnTo>
                  <a:pt x="0" y="7348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04/13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23033" y="1426640"/>
            <a:ext cx="904193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HIPOTESA FUNCTION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11635" y="2550293"/>
            <a:ext cx="14664730" cy="127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Hipotesa function adalah rumus prediksi yang digunakan oleh model machine learning untuk menentukan output berdasarkan input.</a:t>
            </a:r>
          </a:p>
          <a:p>
            <a:pPr algn="just">
              <a:lnSpc>
                <a:spcPts val="3397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811635" y="4417242"/>
            <a:ext cx="6829048" cy="127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Orde 2 (Quadratic Regression)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Bisa menangkap pola bentuk “U” atau “∩”</a:t>
            </a:r>
          </a:p>
          <a:p>
            <a:pPr algn="just">
              <a:lnSpc>
                <a:spcPts val="339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811635" y="6590391"/>
            <a:ext cx="6829048" cy="2129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Orde 3 (Cubic Regression)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Mampu menangkap gelombang atau perubahan arah satu kali.</a:t>
            </a:r>
          </a:p>
          <a:p>
            <a:pPr algn="just">
              <a:lnSpc>
                <a:spcPts val="3397"/>
              </a:lnSpc>
            </a:pPr>
          </a:p>
          <a:p>
            <a:pPr algn="just">
              <a:lnSpc>
                <a:spcPts val="339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811635" y="3669256"/>
            <a:ext cx="14664730" cy="41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Bentuk umum hipotesa function pada regresi polinomial: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50442" y="7401085"/>
            <a:ext cx="6829048" cy="170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Namun secara umum, fungsi hipotesa pada polynomial regression dapat ditulis sebagai:</a:t>
            </a:r>
          </a:p>
          <a:p>
            <a:pPr algn="just">
              <a:lnSpc>
                <a:spcPts val="3397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250442" y="4122882"/>
            <a:ext cx="4646713" cy="3286812"/>
          </a:xfrm>
          <a:custGeom>
            <a:avLst/>
            <a:gdLst/>
            <a:ahLst/>
            <a:cxnLst/>
            <a:rect r="r" b="b" t="t" l="l"/>
            <a:pathLst>
              <a:path h="3286812" w="4646713">
                <a:moveTo>
                  <a:pt x="0" y="0"/>
                </a:moveTo>
                <a:lnTo>
                  <a:pt x="4646713" y="0"/>
                </a:lnTo>
                <a:lnTo>
                  <a:pt x="4646713" y="3286812"/>
                </a:lnTo>
                <a:lnTo>
                  <a:pt x="0" y="32868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6400" r="-61730" b="-12212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11635" y="2105616"/>
            <a:ext cx="14664730" cy="470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Quadratic Regression adalah regresi polinomial orde 2, artinya: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modelnya menggunakan x dan x²,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grafik hasilnya berupa kurva parabola, bukan garis lurus.</a:t>
            </a:r>
          </a:p>
          <a:p>
            <a:pPr algn="just">
              <a:lnSpc>
                <a:spcPts val="3397"/>
              </a:lnSpc>
            </a:pP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Quadratic regression cocok digunakan ketika data menunjukkan pola melengkung, misalnya: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naik lalu turun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turun lalu naik</a:t>
            </a:r>
          </a:p>
          <a:p>
            <a:pPr algn="just">
              <a:lnSpc>
                <a:spcPts val="3397"/>
              </a:lnSpc>
            </a:pP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Bentuk Umum Rumus Quadratic Regression</a:t>
            </a:r>
          </a:p>
          <a:p>
            <a:pPr algn="just">
              <a:lnSpc>
                <a:spcPts val="3397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854543" y="6472377"/>
            <a:ext cx="4661486" cy="668199"/>
          </a:xfrm>
          <a:custGeom>
            <a:avLst/>
            <a:gdLst/>
            <a:ahLst/>
            <a:cxnLst/>
            <a:rect r="r" b="b" t="t" l="l"/>
            <a:pathLst>
              <a:path h="668199" w="4661486">
                <a:moveTo>
                  <a:pt x="0" y="0"/>
                </a:moveTo>
                <a:lnTo>
                  <a:pt x="4661486" y="0"/>
                </a:lnTo>
                <a:lnTo>
                  <a:pt x="4661486" y="668199"/>
                </a:lnTo>
                <a:lnTo>
                  <a:pt x="0" y="668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05/13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85286" y="972439"/>
            <a:ext cx="991742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QUADRATIC REGRESSION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11635" y="7280701"/>
            <a:ext cx="14664730" cy="2129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Keterangan: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β₀ → konstanta (intercept)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β₁ x → pengaruh linear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β₂ x² →</a:t>
            </a: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pengaruh kuadratik (yang membuat grafik melengkung)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ε → error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369835" y="4964713"/>
            <a:ext cx="3889465" cy="4445099"/>
          </a:xfrm>
          <a:custGeom>
            <a:avLst/>
            <a:gdLst/>
            <a:ahLst/>
            <a:cxnLst/>
            <a:rect r="r" b="b" t="t" l="l"/>
            <a:pathLst>
              <a:path h="4445099" w="3889465">
                <a:moveTo>
                  <a:pt x="0" y="0"/>
                </a:moveTo>
                <a:lnTo>
                  <a:pt x="3889465" y="0"/>
                </a:lnTo>
                <a:lnTo>
                  <a:pt x="3889465" y="4445098"/>
                </a:lnTo>
                <a:lnTo>
                  <a:pt x="0" y="4445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9" t="-12095" r="-239770" b="-55189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11635" y="1891303"/>
            <a:ext cx="14664730" cy="470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Cubic Regression adalah regresi polinomial orde 3.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Artinya modelnya menggunakan: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x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x²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x³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Den</a:t>
            </a: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gan memasukkan x pangkat tiga (x³), model menjadi jauh lebih fleksibel, mampu mengikuti pola data yang: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melengkung lebih dari sekali,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naik → turun → naik,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atau turun → naik → turun.</a:t>
            </a:r>
          </a:p>
          <a:p>
            <a:pPr algn="just">
              <a:lnSpc>
                <a:spcPts val="3397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11635" y="7066388"/>
            <a:ext cx="14664730" cy="255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Keterangan: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β₀ → konstanta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β₁x → pengaruh linear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β₂x² →</a:t>
            </a: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efek melengkung sederhana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β₃x³ → efek melengkung kompleks (naik-turun)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ε → error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811635" y="6224732"/>
            <a:ext cx="6201537" cy="734864"/>
          </a:xfrm>
          <a:custGeom>
            <a:avLst/>
            <a:gdLst/>
            <a:ahLst/>
            <a:cxnLst/>
            <a:rect r="r" b="b" t="t" l="l"/>
            <a:pathLst>
              <a:path h="734864" w="6201537">
                <a:moveTo>
                  <a:pt x="0" y="0"/>
                </a:moveTo>
                <a:lnTo>
                  <a:pt x="6201537" y="0"/>
                </a:lnTo>
                <a:lnTo>
                  <a:pt x="6201537" y="734864"/>
                </a:lnTo>
                <a:lnTo>
                  <a:pt x="0" y="734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82285" y="5179025"/>
            <a:ext cx="3977015" cy="4445099"/>
          </a:xfrm>
          <a:custGeom>
            <a:avLst/>
            <a:gdLst/>
            <a:ahLst/>
            <a:cxnLst/>
            <a:rect r="r" b="b" t="t" l="l"/>
            <a:pathLst>
              <a:path h="4445099" w="3977015">
                <a:moveTo>
                  <a:pt x="0" y="0"/>
                </a:moveTo>
                <a:lnTo>
                  <a:pt x="3977015" y="0"/>
                </a:lnTo>
                <a:lnTo>
                  <a:pt x="3977015" y="4445099"/>
                </a:lnTo>
                <a:lnTo>
                  <a:pt x="0" y="44450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0727" t="-12095" r="-121671" b="-5518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06/13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85286" y="758126"/>
            <a:ext cx="991742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CUBIC REGRESSION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11635" y="2893040"/>
            <a:ext cx="14664730" cy="4272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Cost Function adalah rumus yang digunakan untuk mengukur seberapa baik model kita menebak nilai y.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Bayangkan cost function sebagai alat pengukur kesalahan model.</a:t>
            </a:r>
          </a:p>
          <a:p>
            <a:pPr algn="just">
              <a:lnSpc>
                <a:spcPts val="3397"/>
              </a:lnSpc>
            </a:pP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Tujuannya: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Semakin kecil nilai cost → semakin baik model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Semakin besar cost → model buruk (prediksi jauh dari data sebenarnya)</a:t>
            </a:r>
          </a:p>
          <a:p>
            <a:pPr algn="just">
              <a:lnSpc>
                <a:spcPts val="3397"/>
              </a:lnSpc>
            </a:pP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Rumus Cost Function (Mean Squared Error)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Rumus umum cost function pada polynomial regression adalah: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811635" y="7364806"/>
            <a:ext cx="5060610" cy="1248056"/>
          </a:xfrm>
          <a:custGeom>
            <a:avLst/>
            <a:gdLst/>
            <a:ahLst/>
            <a:cxnLst/>
            <a:rect r="r" b="b" t="t" l="l"/>
            <a:pathLst>
              <a:path h="1248056" w="5060610">
                <a:moveTo>
                  <a:pt x="0" y="0"/>
                </a:moveTo>
                <a:lnTo>
                  <a:pt x="5060610" y="0"/>
                </a:lnTo>
                <a:lnTo>
                  <a:pt x="5060610" y="1248056"/>
                </a:lnTo>
                <a:lnTo>
                  <a:pt x="0" y="12480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07/13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23033" y="1769388"/>
            <a:ext cx="904193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COST FUNCTION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11635" y="2379198"/>
            <a:ext cx="5060610" cy="1248056"/>
          </a:xfrm>
          <a:custGeom>
            <a:avLst/>
            <a:gdLst/>
            <a:ahLst/>
            <a:cxnLst/>
            <a:rect r="r" b="b" t="t" l="l"/>
            <a:pathLst>
              <a:path h="1248056" w="5060610">
                <a:moveTo>
                  <a:pt x="0" y="0"/>
                </a:moveTo>
                <a:lnTo>
                  <a:pt x="5060610" y="0"/>
                </a:lnTo>
                <a:lnTo>
                  <a:pt x="5060610" y="1248056"/>
                </a:lnTo>
                <a:lnTo>
                  <a:pt x="0" y="12480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11635" y="4829683"/>
            <a:ext cx="10584487" cy="4344646"/>
          </a:xfrm>
          <a:custGeom>
            <a:avLst/>
            <a:gdLst/>
            <a:ahLst/>
            <a:cxnLst/>
            <a:rect r="r" b="b" t="t" l="l"/>
            <a:pathLst>
              <a:path h="4344646" w="10584487">
                <a:moveTo>
                  <a:pt x="0" y="0"/>
                </a:moveTo>
                <a:lnTo>
                  <a:pt x="10584487" y="0"/>
                </a:lnTo>
                <a:lnTo>
                  <a:pt x="10584487" y="4344646"/>
                </a:lnTo>
                <a:lnTo>
                  <a:pt x="0" y="43446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11635" y="3995972"/>
            <a:ext cx="14664730" cy="41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Keterangan: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08/13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39608" y="1207921"/>
            <a:ext cx="11208784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PENJELASAN BAGIAN RUMUS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09/13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55072" y="609600"/>
            <a:ext cx="11777856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KELEBIHAN DAN KEKURANGAN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11635" y="1642789"/>
            <a:ext cx="14664730" cy="812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Kelebihan Polynomial Regression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1. Mampu Menangkap Pola Non-Linear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Jika hubungan antara variabel tidak linear (melengkung), polynomial regression bisa memodelkan bentuk tersebut dengan baik.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Contoh: data naik → turun → naik → turun.</a:t>
            </a:r>
          </a:p>
          <a:p>
            <a:pPr algn="just">
              <a:lnSpc>
                <a:spcPts val="3397"/>
              </a:lnSpc>
            </a:pP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2. Tetap Menggunakan Metode Linear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Walaupun bentuknya melengkung, penyelesaiannya tetap menggunakan teknik linear regression.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Artinya: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perhitungannya tetap cepat,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modelnya lebih stabil dibanding metode non-linear murni.</a:t>
            </a:r>
          </a:p>
          <a:p>
            <a:pPr algn="just">
              <a:lnSpc>
                <a:spcPts val="3397"/>
              </a:lnSpc>
            </a:pP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 Fleksibel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Kamu bisa memilih orde (degree) sesuai kebutuhan: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orde 2 → parabola sederhana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orde 3 → pola naik-turun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orde 4+ → pola lebih kompleks</a:t>
            </a:r>
          </a:p>
          <a:p>
            <a:pPr algn="just">
              <a:lnSpc>
                <a:spcPts val="3397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10/13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55072" y="609600"/>
            <a:ext cx="11777856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KELEBIHAN DAN KEKURANGAN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9244" y="1670531"/>
            <a:ext cx="14664730" cy="7272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 Mudah Diter</a:t>
            </a: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apkan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Banyak library sudah menyediakan fitur polynomial secara langsung, misalnya: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Python:</a:t>
            </a: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PolynomialFeatures (scikit-learn)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R:</a:t>
            </a: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poly()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MATLAB: polyfit</a:t>
            </a:r>
          </a:p>
          <a:p>
            <a:pPr algn="just">
              <a:lnSpc>
                <a:spcPts val="3397"/>
              </a:lnSpc>
            </a:pP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5.</a:t>
            </a: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Cocok untuk Dataset Kecil–Menengah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</a:t>
            </a: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odel bisa bekerja sangat baik pada dataset yang tidak terlalu besar.</a:t>
            </a:r>
          </a:p>
          <a:p>
            <a:pPr algn="just">
              <a:lnSpc>
                <a:spcPts val="3397"/>
              </a:lnSpc>
            </a:pP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Kekurangan Polynomial Regression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1. Risiko Overfitting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Semakin tinggi orde (derajat), model bisa mengikuti data terlalu detail sehingga gagal memprediksi data baru.</a:t>
            </a:r>
          </a:p>
          <a:p>
            <a:pPr algn="just">
              <a:lnSpc>
                <a:spcPts val="3397"/>
              </a:lnSpc>
            </a:pP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2. Tidak Stabil Pada Data Ekstrapolasi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Prediksi di luar rentang data training bisa sangat liar.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Contoh: sedikit saja keluar batas, garis bisa melesat naik atau turun secara ekstrem.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11/13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55072" y="1024354"/>
            <a:ext cx="11777856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KELEBIHAN DAN KEKURANGAN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9244" y="2085285"/>
            <a:ext cx="14664730" cy="7272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 Sensitif Terh</a:t>
            </a: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adap Outlier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atu titik outlier dapat mengubah bentuk kurva secara signifikan.</a:t>
            </a:r>
          </a:p>
          <a:p>
            <a:pPr algn="just">
              <a:lnSpc>
                <a:spcPts val="3397"/>
              </a:lnSpc>
            </a:pP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 Kompleksitas Bertambah Cepat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Derajat tinggi berarti: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lebih banyak parameter,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risiko</a:t>
            </a: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komputasi lebih tinggi,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interpretasi lebih sulit.</a:t>
            </a:r>
          </a:p>
          <a:p>
            <a:pPr algn="just">
              <a:lnSpc>
                <a:spcPts val="3397"/>
              </a:lnSpc>
            </a:pP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5.</a:t>
            </a: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Tidak Cocok untuk Data Multi-Dimensi Besar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Jika prediktor b</a:t>
            </a: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anyak, polynomial akan menghasilkan ratusan hingga ribuan fitur → model jadi sangat berat dan rentan overfitting.</a:t>
            </a:r>
          </a:p>
          <a:p>
            <a:pPr algn="just">
              <a:lnSpc>
                <a:spcPts val="3397"/>
              </a:lnSpc>
            </a:pP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6. Memiliki Batasan Bentuk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Walaupun fleksibel, polynomial tidak selalu cocok untuk pola data yang sangat kompleks atau tidak menyerupai fungsi polinomial.</a:t>
            </a:r>
          </a:p>
          <a:p>
            <a:pPr algn="just">
              <a:lnSpc>
                <a:spcPts val="3397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11635" y="1768217"/>
            <a:ext cx="14664730" cy="341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Latar Belakang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Perusahaan biasanya memiliki struktur jabatan mulai dari level junior hingga senior, masing-masing dengan rentang gaji yang berbeda. Namun, kenaikan gaji tidak selalu bersifat linear</a:t>
            </a:r>
          </a:p>
          <a:p>
            <a:pPr algn="just">
              <a:lnSpc>
                <a:spcPts val="3397"/>
              </a:lnSpc>
            </a:pP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Contoh: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Naik dari Level 1 → Level 2, gaji mungkin naik sedikit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Naik dari Level 8 → Level 9, gaji bisa melonjak jauh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Artinya, hubungan antara level jabatan dan gaji cenderung non-linear.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811635" y="5392753"/>
            <a:ext cx="7884258" cy="4170791"/>
          </a:xfrm>
          <a:custGeom>
            <a:avLst/>
            <a:gdLst/>
            <a:ahLst/>
            <a:cxnLst/>
            <a:rect r="r" b="b" t="t" l="l"/>
            <a:pathLst>
              <a:path h="4170791" w="7884258">
                <a:moveTo>
                  <a:pt x="0" y="0"/>
                </a:moveTo>
                <a:lnTo>
                  <a:pt x="7884258" y="0"/>
                </a:lnTo>
                <a:lnTo>
                  <a:pt x="7884258" y="4170791"/>
                </a:lnTo>
                <a:lnTo>
                  <a:pt x="0" y="4170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12/13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39608" y="818706"/>
            <a:ext cx="11208784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CONTOH KASUS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29604" y="2388620"/>
            <a:ext cx="14664730" cy="255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Ken</a:t>
            </a: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apa Polynomial Regression Cocok di kasusIni?</a:t>
            </a: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Karena pola data gaji: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tidak lurus,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melengkung semakin tajam,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berubah secara non-linear terutama pada level tinggi.</a:t>
            </a:r>
          </a:p>
          <a:p>
            <a:pPr algn="just">
              <a:lnSpc>
                <a:spcPts val="3397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13/13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57578" y="1439109"/>
            <a:ext cx="11208784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CONTOH KASUS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29604" y="4718530"/>
            <a:ext cx="7884258" cy="4170791"/>
          </a:xfrm>
          <a:custGeom>
            <a:avLst/>
            <a:gdLst/>
            <a:ahLst/>
            <a:cxnLst/>
            <a:rect r="r" b="b" t="t" l="l"/>
            <a:pathLst>
              <a:path h="4170791" w="7884258">
                <a:moveTo>
                  <a:pt x="0" y="0"/>
                </a:moveTo>
                <a:lnTo>
                  <a:pt x="7884258" y="0"/>
                </a:lnTo>
                <a:lnTo>
                  <a:pt x="7884258" y="4170791"/>
                </a:lnTo>
                <a:lnTo>
                  <a:pt x="0" y="4170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605236" y="4858308"/>
            <a:ext cx="7153160" cy="3843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Perhatikan bahwa: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Ken</a:t>
            </a: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aikan 5 → 6 → 7 → 8 cukup tajam</a:t>
            </a:r>
          </a:p>
          <a:p>
            <a:pPr algn="just" marL="523934" indent="-261967" lvl="1">
              <a:lnSpc>
                <a:spcPts val="3397"/>
              </a:lnSpc>
              <a:buFont typeface="Arial"/>
              <a:buChar char="•"/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Kenaikan 9 → 10 sangat drastis</a:t>
            </a:r>
          </a:p>
          <a:p>
            <a:pPr algn="just">
              <a:lnSpc>
                <a:spcPts val="3397"/>
              </a:lnSpc>
            </a:pP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Linear Regression akan menghasilkan garis lurus yang tidak cocok.</a:t>
            </a:r>
          </a:p>
          <a:p>
            <a:pPr algn="just">
              <a:lnSpc>
                <a:spcPts val="3397"/>
              </a:lnSpc>
            </a:pPr>
          </a:p>
          <a:p>
            <a:pPr algn="just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Polyno</a:t>
            </a:r>
            <a:r>
              <a:rPr lang="en-US" sz="242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mial Regression menghasilkan kurva yang mengikuti bentuk data.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22270" y="4682661"/>
            <a:ext cx="8043461" cy="141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0"/>
              </a:lnSpc>
            </a:pPr>
            <a:r>
              <a:rPr lang="en-US" sz="12602" spc="-9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DAG4wqNnQO8</dc:identifier>
  <dcterms:modified xsi:type="dcterms:W3CDTF">2011-08-01T06:04:30Z</dcterms:modified>
  <cp:revision>1</cp:revision>
  <dc:title>Beige and Black Minimalist Project Deck Presentation</dc:title>
</cp:coreProperties>
</file>